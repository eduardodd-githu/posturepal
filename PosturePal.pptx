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b996e48b-5311-fb9d-1828-39b7b20ef23a}">
          <p14:sldIdLst>
            <p14:sldId id="256"/>
          </p14:sldIdLst>
        </p14:section>
        <p14:section name="Problema e idea" id="{ecc8251b-b384-ede7-3fad-281e3d197559}">
          <p14:sldIdLst>
            <p14:sldId id="257"/>
            <p14:sldId id="258"/>
          </p14:sldIdLst>
        </p14:section>
        <p14:section name="Cómo funciona" id="{6ab84897-35c9-45e5-62b7-899ef1435ef9}">
          <p14:sldIdLst>
            <p14:sldId id="259"/>
            <p14:sldId id="260"/>
          </p14:sldIdLst>
        </p14:section>
        <p14:section name="Producto" id="{41abc10a-24ab-58bd-04fb-a61792fa43ab}">
          <p14:sldIdLst>
            <p14:sldId id="261"/>
            <p14:sldId id="262"/>
            <p14:sldId id="263"/>
          </p14:sldIdLst>
        </p14:section>
        <p14:section name="Cierre" id="{667df570-8bd5-e3f0-83ac-10d0f19e87f9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PosturePal: una página web que usa la cámara y una inteligencia artificial para avisarte cuando te encorvas. Funciona en computador y celular, sin instalar nada y gratis.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mala postura no aparece de golpe. Te vas hundiendo mientras te concentras, y solo lo notas cuando duele. Necesitamos algo que se dé cuenta por nosotros.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Casi todos tenemos una cámara apuntando a la cara todo el día. La idea es usarla para cuidarnos: una IA encuentra la cabeza y los hombros, un cálculo de geometría mide la postura y, si te encorvas, te avisa.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 es el ratio: la distancia vertical entre la nariz y los hombros, dividida entre el ancho de los hombros. Al encorvarte la nariz baja y el ratio cae. Dividir hace que la medida no cambie si estás cerca o lejos de la cámara.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ocurre en un ciclo: la cámara da un cuadro, la IA encuentra los puntos, calculamos el ratio, decidimos si alertar y actualizamos la pantalla. Esto se repite unas 30 veces por segundo, incluso si estás en otra ventana.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Además de alertar, PosturePal da un puntaje, muestra un gráfico en vivo, se calibra a cada persona, sigue funcionando en segundo plano, recuerda hacer pausas y genera un reporte que se puede descargar.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herramientas profesionales y gratuitas: MediaPipe de Google para la IA, WebAssembly para que corra rápido en el navegador, y GitHub Pages para publicarlo. El presupuesto total fue cero.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Cuidamos la privacidad: el video no sale del dispositivo. No hay nada que instalar. Y es accesible: avisa con sonido, color y también a personas que usan lector de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Invitamos a todos a probarlo: escaneen el código QR con la cámara del celular, toquen Iniciar, calibren y encórvense para ver la alerta. ¡Gracias!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937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PosturePal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Un detector de mala postura con inteligencia artificial que funciona en cualquier navegador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Proyecto de feria de ciencias</a:t>
            </a:r>
            <a:endParaRPr lang="en-US" sz="1200" dirty="0"/>
          </a:p>
        </p:txBody>
      </p:sp>
      <p:sp>
        <p:nvSpPr>
          <p:cNvPr id="5" name="marco demo"/>
          <p:cNvSpPr/>
          <p:nvPr/>
        </p:nvSpPr>
        <p:spPr>
          <a:xfrm>
            <a:off x="5989320" y="86868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1E2731"/>
          </a:solidFill>
          <a:ln w="12700">
            <a:solidFill>
              <a:srgbClr val="1E2731"/>
            </a:solidFill>
            <a:prstDash val="solid"/>
          </a:ln>
        </p:spPr>
      </p:sp>
      <p:sp>
        <p:nvSpPr>
          <p:cNvPr id="6" name="torso"/>
          <p:cNvSpPr/>
          <p:nvPr/>
        </p:nvSpPr>
        <p:spPr>
          <a:xfrm>
            <a:off x="6400800" y="2651760"/>
            <a:ext cx="1737360" cy="685800"/>
          </a:xfrm>
          <a:prstGeom prst="roundRect">
            <a:avLst>
              <a:gd name="adj" fmla="val 40000"/>
            </a:avLst>
          </a:prstGeom>
          <a:solidFill>
            <a:srgbClr val="1E2731"/>
          </a:solidFill>
          <a:ln w="12700">
            <a:solidFill>
              <a:srgbClr val="2C3742"/>
            </a:solidFill>
            <a:prstDash val="solid"/>
          </a:ln>
        </p:spPr>
      </p:sp>
      <p:sp>
        <p:nvSpPr>
          <p:cNvPr id="7" name="cabeza"/>
          <p:cNvSpPr/>
          <p:nvPr/>
        </p:nvSpPr>
        <p:spPr>
          <a:xfrm>
            <a:off x="6949440" y="1280160"/>
            <a:ext cx="640080" cy="640080"/>
          </a:xfrm>
          <a:prstGeom prst="ellipse">
            <a:avLst/>
          </a:prstGeom>
          <a:solidFill>
            <a:srgbClr val="1E2731"/>
          </a:solidFill>
          <a:ln w="12700">
            <a:solidFill>
              <a:srgbClr val="2C3742"/>
            </a:solidFill>
            <a:prstDash val="solid"/>
          </a:ln>
        </p:spPr>
      </p:sp>
      <p:sp>
        <p:nvSpPr>
          <p:cNvPr id="8" name="hombros"/>
          <p:cNvSpPr/>
          <p:nvPr/>
        </p:nvSpPr>
        <p:spPr>
          <a:xfrm>
            <a:off x="6537960" y="2651760"/>
            <a:ext cx="1463040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9" name="cuello"/>
          <p:cNvSpPr/>
          <p:nvPr/>
        </p:nvSpPr>
        <p:spPr>
          <a:xfrm>
            <a:off x="7269480" y="1677010"/>
            <a:ext cx="0" cy="974750"/>
          </a:xfrm>
          <a:prstGeom prst="line">
            <a:avLst/>
          </a:prstGeom>
          <a:noFill/>
          <a:ln w="31750">
            <a:solidFill>
              <a:srgbClr val="3EF0A1"/>
            </a:solidFill>
            <a:prstDash val="dash"/>
          </a:ln>
        </p:spPr>
      </p:sp>
      <p:sp>
        <p:nvSpPr>
          <p:cNvPr id="10" name="punto"/>
          <p:cNvSpPr/>
          <p:nvPr/>
        </p:nvSpPr>
        <p:spPr>
          <a:xfrm>
            <a:off x="7196328" y="1603858"/>
            <a:ext cx="146304" cy="146304"/>
          </a:xfrm>
          <a:prstGeom prst="ellipse">
            <a:avLst/>
          </a:prstGeom>
          <a:solidFill>
            <a:srgbClr val="3EF0A1"/>
          </a:solidFill>
          <a:ln w="12700">
            <a:solidFill>
              <a:srgbClr val="3EF0A1"/>
            </a:solidFill>
            <a:prstDash val="solid"/>
          </a:ln>
        </p:spPr>
      </p:sp>
      <p:sp>
        <p:nvSpPr>
          <p:cNvPr id="11" name="punto"/>
          <p:cNvSpPr/>
          <p:nvPr/>
        </p:nvSpPr>
        <p:spPr>
          <a:xfrm>
            <a:off x="6464808" y="2578608"/>
            <a:ext cx="146304" cy="146304"/>
          </a:xfrm>
          <a:prstGeom prst="ellipse">
            <a:avLst/>
          </a:prstGeom>
          <a:solidFill>
            <a:srgbClr val="3EF0A1"/>
          </a:solidFill>
          <a:ln w="12700">
            <a:solidFill>
              <a:srgbClr val="3EF0A1"/>
            </a:solidFill>
            <a:prstDash val="solid"/>
          </a:ln>
        </p:spPr>
      </p:sp>
      <p:sp>
        <p:nvSpPr>
          <p:cNvPr id="12" name="punto"/>
          <p:cNvSpPr/>
          <p:nvPr/>
        </p:nvSpPr>
        <p:spPr>
          <a:xfrm>
            <a:off x="7927848" y="2578608"/>
            <a:ext cx="146304" cy="146304"/>
          </a:xfrm>
          <a:prstGeom prst="ellipse">
            <a:avLst/>
          </a:prstGeom>
          <a:solidFill>
            <a:srgbClr val="3EF0A1"/>
          </a:solidFill>
          <a:ln w="12700">
            <a:solidFill>
              <a:srgbClr val="3EF0A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89320" y="3611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ratio 0.59 · postura correcta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Nadie se encorva a propósito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El problema no es que no sepamos sentarnos bien: es que no nos damos cuenta cuando dejamos de hacerlo.</a:t>
            </a:r>
            <a:endParaRPr lang="en-US" sz="1600" dirty="0"/>
          </a:p>
        </p:txBody>
      </p:sp>
      <p:sp>
        <p:nvSpPr>
          <p:cNvPr id="4" name="paso 1"/>
          <p:cNvSpPr/>
          <p:nvPr/>
        </p:nvSpPr>
        <p:spPr>
          <a:xfrm>
            <a:off x="548640" y="19659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num 1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Empiezas derecho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Al iniciar la clase o la tarea, la espalda está recta.</a:t>
            </a:r>
            <a:endParaRPr lang="en-US" sz="1300" dirty="0"/>
          </a:p>
        </p:txBody>
      </p:sp>
      <p:sp>
        <p:nvSpPr>
          <p:cNvPr id="9" name="paso 2"/>
          <p:cNvSpPr/>
          <p:nvPr/>
        </p:nvSpPr>
        <p:spPr>
          <a:xfrm>
            <a:off x="2606040" y="19659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0" name="num 2"/>
          <p:cNvSpPr/>
          <p:nvPr/>
        </p:nvSpPr>
        <p:spPr>
          <a:xfrm>
            <a:off x="2834640" y="2194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 concentras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383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 atención está en la pantalla, no en el cuerpo.</a:t>
            </a:r>
            <a:endParaRPr lang="en-US" sz="1300" dirty="0"/>
          </a:p>
        </p:txBody>
      </p:sp>
      <p:sp>
        <p:nvSpPr>
          <p:cNvPr id="14" name="paso 3"/>
          <p:cNvSpPr/>
          <p:nvPr/>
        </p:nvSpPr>
        <p:spPr>
          <a:xfrm>
            <a:off x="4663440" y="19659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5" name="num 3"/>
          <p:cNvSpPr/>
          <p:nvPr/>
        </p:nvSpPr>
        <p:spPr>
          <a:xfrm>
            <a:off x="4892040" y="2194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 hundes poco a poco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383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 cabeza cae hacia adelante sin que lo notes.</a:t>
            </a:r>
            <a:endParaRPr lang="en-US" sz="1300" dirty="0"/>
          </a:p>
        </p:txBody>
      </p:sp>
      <p:sp>
        <p:nvSpPr>
          <p:cNvPr id="19" name="paso 4"/>
          <p:cNvSpPr/>
          <p:nvPr/>
        </p:nvSpPr>
        <p:spPr>
          <a:xfrm>
            <a:off x="6720840" y="196596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0" name="num 4"/>
          <p:cNvSpPr/>
          <p:nvPr/>
        </p:nvSpPr>
        <p:spPr>
          <a:xfrm>
            <a:off x="6949440" y="2194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Llega el dolor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38328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Cuello y espalda cansados al final del día.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¿Y si la cámara nos cuidara?</a:t>
            </a:r>
            <a:endParaRPr lang="en-US" sz="3000" dirty="0"/>
          </a:p>
        </p:txBody>
      </p:sp>
      <p:sp>
        <p:nvSpPr>
          <p:cNvPr id="3" name="idea Cámara"/>
          <p:cNvSpPr/>
          <p:nvPr/>
        </p:nvSpPr>
        <p:spPr>
          <a:xfrm>
            <a:off x="1051560" y="1463040"/>
            <a:ext cx="914400" cy="9144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Cámara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 del computador o el celular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6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idea IA"/>
          <p:cNvSpPr/>
          <p:nvPr/>
        </p:nvSpPr>
        <p:spPr>
          <a:xfrm>
            <a:off x="3154680" y="14630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IA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Encuentra cabeza y hombros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6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idea Geometría"/>
          <p:cNvSpPr/>
          <p:nvPr/>
        </p:nvSpPr>
        <p:spPr>
          <a:xfrm>
            <a:off x="5257800" y="146304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Geometría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Mide qué tan hundida está la cabeza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accent6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idea Aviso"/>
          <p:cNvSpPr/>
          <p:nvPr/>
        </p:nvSpPr>
        <p:spPr>
          <a:xfrm>
            <a:off x="7360920" y="14630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609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560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Aviso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Sonido y pantalla roja</a:t>
            </a:r>
            <a:endParaRPr lang="en-US" sz="1300" dirty="0"/>
          </a:p>
        </p:txBody>
      </p:sp>
      <p:sp>
        <p:nvSpPr>
          <p:cNvPr id="22" name="regla"/>
          <p:cNvSpPr/>
          <p:nvPr/>
        </p:nvSpPr>
        <p:spPr>
          <a:xfrm>
            <a:off x="548640" y="3886200"/>
            <a:ext cx="8046720" cy="640080"/>
          </a:xfrm>
          <a:prstGeom prst="roundRect">
            <a:avLst>
              <a:gd name="adj" fmla="val 1714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886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Regla del proyecto: gratis, sin instalar nada, en computador y celular, y el video nunca sale del dispositivo.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Una fórmula simple mide la postura</a:t>
            </a:r>
            <a:endParaRPr lang="en-US" sz="3000" dirty="0"/>
          </a:p>
        </p:txBody>
      </p:sp>
      <p:sp>
        <p:nvSpPr>
          <p:cNvPr id="3" name="formula"/>
          <p:cNvSpPr/>
          <p:nvPr/>
        </p:nvSpPr>
        <p:spPr>
          <a:xfrm>
            <a:off x="548640" y="1188720"/>
            <a:ext cx="3931920" cy="1005840"/>
          </a:xfrm>
          <a:prstGeom prst="roundRect">
            <a:avLst>
              <a:gd name="adj" fmla="val 10909"/>
            </a:avLst>
          </a:prstGeom>
          <a:solidFill>
            <a:srgbClr val="141B22"/>
          </a:solidFill>
          <a:ln w="12700">
            <a:solidFill>
              <a:srgbClr val="141B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188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ratio = h ÷ w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h = altura nariz → hombros   ·   w = ancho de hombros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 encorvarte, la nariz baja y h se reduce.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Dividir entre w hace que no importe la distancia a la cámara.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Calibrar guarda tu ratio ideal; la alerta salta si cae ~19 % durante 2 s.</a:t>
            </a:r>
            <a:endParaRPr lang="en-US" sz="1400" dirty="0"/>
          </a:p>
        </p:txBody>
      </p:sp>
      <p:sp>
        <p:nvSpPr>
          <p:cNvPr id="6" name="fig bien"/>
          <p:cNvSpPr/>
          <p:nvPr/>
        </p:nvSpPr>
        <p:spPr>
          <a:xfrm>
            <a:off x="4800600" y="1188720"/>
            <a:ext cx="1828800" cy="3246120"/>
          </a:xfrm>
          <a:prstGeom prst="roundRect">
            <a:avLst>
              <a:gd name="adj" fmla="val 6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7" name="fig mal"/>
          <p:cNvSpPr/>
          <p:nvPr/>
        </p:nvSpPr>
        <p:spPr>
          <a:xfrm>
            <a:off x="6766560" y="1188720"/>
            <a:ext cx="1828800" cy="3246120"/>
          </a:xfrm>
          <a:prstGeom prst="roundRect">
            <a:avLst>
              <a:gd name="adj" fmla="val 6000"/>
            </a:avLst>
          </a:prstGeom>
          <a:solidFill>
            <a:srgbClr val="FFE8EA"/>
          </a:solidFill>
          <a:ln w="12700">
            <a:solidFill>
              <a:srgbClr val="FFE8EA"/>
            </a:solidFill>
            <a:prstDash val="solid"/>
          </a:ln>
        </p:spPr>
      </p:sp>
      <p:sp>
        <p:nvSpPr>
          <p:cNvPr id="8" name="torso"/>
          <p:cNvSpPr/>
          <p:nvPr/>
        </p:nvSpPr>
        <p:spPr>
          <a:xfrm>
            <a:off x="4954905" y="2703195"/>
            <a:ext cx="1520190" cy="600075"/>
          </a:xfrm>
          <a:prstGeom prst="roundRect">
            <a:avLst>
              <a:gd name="adj" fmla="val 40000"/>
            </a:avLst>
          </a:prstGeom>
          <a:solidFill>
            <a:srgbClr val="E6ECEF"/>
          </a:solidFill>
          <a:ln w="12700">
            <a:solidFill>
              <a:srgbClr val="D3DBE0"/>
            </a:solidFill>
            <a:prstDash val="solid"/>
          </a:ln>
        </p:spPr>
      </p:sp>
      <p:sp>
        <p:nvSpPr>
          <p:cNvPr id="9" name="cabeza"/>
          <p:cNvSpPr/>
          <p:nvPr/>
        </p:nvSpPr>
        <p:spPr>
          <a:xfrm>
            <a:off x="5434965" y="1503045"/>
            <a:ext cx="560070" cy="560070"/>
          </a:xfrm>
          <a:prstGeom prst="ellipse">
            <a:avLst/>
          </a:prstGeom>
          <a:solidFill>
            <a:srgbClr val="E6ECEF"/>
          </a:solidFill>
          <a:ln w="12700">
            <a:solidFill>
              <a:srgbClr val="D3DBE0"/>
            </a:solidFill>
            <a:prstDash val="solid"/>
          </a:ln>
        </p:spPr>
      </p:sp>
      <p:sp>
        <p:nvSpPr>
          <p:cNvPr id="10" name="hombros"/>
          <p:cNvSpPr/>
          <p:nvPr/>
        </p:nvSpPr>
        <p:spPr>
          <a:xfrm>
            <a:off x="5074920" y="2703195"/>
            <a:ext cx="1280160" cy="0"/>
          </a:xfrm>
          <a:prstGeom prst="line">
            <a:avLst/>
          </a:prstGeom>
          <a:noFill/>
          <a:ln w="31750">
            <a:solidFill>
              <a:srgbClr val="0B0F14"/>
            </a:solidFill>
            <a:prstDash val="solid"/>
          </a:ln>
        </p:spPr>
      </p:sp>
      <p:sp>
        <p:nvSpPr>
          <p:cNvPr id="11" name="cuello"/>
          <p:cNvSpPr/>
          <p:nvPr/>
        </p:nvSpPr>
        <p:spPr>
          <a:xfrm>
            <a:off x="5715000" y="1850288"/>
            <a:ext cx="0" cy="852907"/>
          </a:xfrm>
          <a:prstGeom prst="line">
            <a:avLst/>
          </a:prstGeom>
          <a:noFill/>
          <a:ln w="31750">
            <a:solidFill>
              <a:srgbClr val="16A36A"/>
            </a:solidFill>
            <a:prstDash val="dash"/>
          </a:ln>
        </p:spPr>
      </p:sp>
      <p:sp>
        <p:nvSpPr>
          <p:cNvPr id="12" name="punto"/>
          <p:cNvSpPr/>
          <p:nvPr/>
        </p:nvSpPr>
        <p:spPr>
          <a:xfrm>
            <a:off x="5650992" y="1786280"/>
            <a:ext cx="128016" cy="128016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3" name="punto"/>
          <p:cNvSpPr/>
          <p:nvPr/>
        </p:nvSpPr>
        <p:spPr>
          <a:xfrm>
            <a:off x="5010912" y="2639187"/>
            <a:ext cx="128016" cy="128016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4" name="punto"/>
          <p:cNvSpPr/>
          <p:nvPr/>
        </p:nvSpPr>
        <p:spPr>
          <a:xfrm>
            <a:off x="6291072" y="2639187"/>
            <a:ext cx="128016" cy="128016"/>
          </a:xfrm>
          <a:prstGeom prst="ellipse">
            <a:avLst/>
          </a:prstGeom>
          <a:solidFill>
            <a:srgbClr val="16A36A"/>
          </a:solidFill>
          <a:ln w="12700">
            <a:solidFill>
              <a:srgbClr val="16A36A"/>
            </a:solidFill>
            <a:prstDash val="solid"/>
          </a:ln>
        </p:spPr>
      </p:sp>
      <p:sp>
        <p:nvSpPr>
          <p:cNvPr id="15" name="torso"/>
          <p:cNvSpPr/>
          <p:nvPr/>
        </p:nvSpPr>
        <p:spPr>
          <a:xfrm>
            <a:off x="6920865" y="2703195"/>
            <a:ext cx="1520190" cy="600075"/>
          </a:xfrm>
          <a:prstGeom prst="roundRect">
            <a:avLst>
              <a:gd name="adj" fmla="val 40000"/>
            </a:avLst>
          </a:prstGeom>
          <a:solidFill>
            <a:srgbClr val="E6ECEF"/>
          </a:solidFill>
          <a:ln w="12700">
            <a:solidFill>
              <a:srgbClr val="D3DBE0"/>
            </a:solidFill>
            <a:prstDash val="solid"/>
          </a:ln>
        </p:spPr>
      </p:sp>
      <p:sp>
        <p:nvSpPr>
          <p:cNvPr id="16" name="cabeza"/>
          <p:cNvSpPr/>
          <p:nvPr/>
        </p:nvSpPr>
        <p:spPr>
          <a:xfrm>
            <a:off x="7400925" y="1959102"/>
            <a:ext cx="560070" cy="560070"/>
          </a:xfrm>
          <a:prstGeom prst="ellipse">
            <a:avLst/>
          </a:prstGeom>
          <a:solidFill>
            <a:srgbClr val="E6ECEF"/>
          </a:solidFill>
          <a:ln w="12700">
            <a:solidFill>
              <a:srgbClr val="D3DBE0"/>
            </a:solidFill>
            <a:prstDash val="solid"/>
          </a:ln>
        </p:spPr>
      </p:sp>
      <p:sp>
        <p:nvSpPr>
          <p:cNvPr id="17" name="hombros"/>
          <p:cNvSpPr/>
          <p:nvPr/>
        </p:nvSpPr>
        <p:spPr>
          <a:xfrm>
            <a:off x="7040880" y="2703195"/>
            <a:ext cx="1280160" cy="0"/>
          </a:xfrm>
          <a:prstGeom prst="line">
            <a:avLst/>
          </a:prstGeom>
          <a:noFill/>
          <a:ln w="31750">
            <a:solidFill>
              <a:srgbClr val="0B0F14"/>
            </a:solidFill>
            <a:prstDash val="solid"/>
          </a:ln>
        </p:spPr>
      </p:sp>
      <p:sp>
        <p:nvSpPr>
          <p:cNvPr id="18" name="cuello"/>
          <p:cNvSpPr/>
          <p:nvPr/>
        </p:nvSpPr>
        <p:spPr>
          <a:xfrm>
            <a:off x="7680960" y="2306345"/>
            <a:ext cx="0" cy="396850"/>
          </a:xfrm>
          <a:prstGeom prst="line">
            <a:avLst/>
          </a:prstGeom>
          <a:noFill/>
          <a:ln w="31750">
            <a:solidFill>
              <a:srgbClr val="FF5D6C"/>
            </a:solidFill>
            <a:prstDash val="dash"/>
          </a:ln>
        </p:spPr>
      </p:sp>
      <p:sp>
        <p:nvSpPr>
          <p:cNvPr id="19" name="punto"/>
          <p:cNvSpPr/>
          <p:nvPr/>
        </p:nvSpPr>
        <p:spPr>
          <a:xfrm>
            <a:off x="7616952" y="2242337"/>
            <a:ext cx="128016" cy="128016"/>
          </a:xfrm>
          <a:prstGeom prst="ellipse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0" name="punto"/>
          <p:cNvSpPr/>
          <p:nvPr/>
        </p:nvSpPr>
        <p:spPr>
          <a:xfrm>
            <a:off x="6976872" y="2639187"/>
            <a:ext cx="128016" cy="128016"/>
          </a:xfrm>
          <a:prstGeom prst="ellipse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1" name="punto"/>
          <p:cNvSpPr/>
          <p:nvPr/>
        </p:nvSpPr>
        <p:spPr>
          <a:xfrm>
            <a:off x="8257032" y="2639187"/>
            <a:ext cx="128016" cy="128016"/>
          </a:xfrm>
          <a:prstGeom prst="ellipse">
            <a:avLst/>
          </a:prstGeom>
          <a:solidFill>
            <a:srgbClr val="FF5D6C"/>
          </a:solidFill>
          <a:ln w="12700">
            <a:solidFill>
              <a:srgbClr val="FF5D6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0.59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Postura correcta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611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0.29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Encorvado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30 veces por segundo, cinco pasos</a:t>
            </a:r>
            <a:endParaRPr lang="en-US" sz="3000" dirty="0"/>
          </a:p>
        </p:txBody>
      </p:sp>
      <p:sp>
        <p:nvSpPr>
          <p:cNvPr id="3" name="loop Cámara"/>
          <p:cNvSpPr/>
          <p:nvPr/>
        </p:nvSpPr>
        <p:spPr>
          <a:xfrm>
            <a:off x="548640" y="1417320"/>
            <a:ext cx="1463040" cy="2194560"/>
          </a:xfrm>
          <a:prstGeom prst="roundRect">
            <a:avLst>
              <a:gd name="adj" fmla="val 7500"/>
            </a:avLst>
          </a:prstGeom>
          <a:solidFill>
            <a:srgbClr val="1E2731"/>
          </a:solidFill>
          <a:ln w="12700">
            <a:solidFill>
              <a:srgbClr val="1E2731"/>
            </a:solidFill>
            <a:prstDash val="solid"/>
          </a:ln>
        </p:spPr>
      </p:sp>
      <p:sp>
        <p:nvSpPr>
          <p:cNvPr id="4" name="n0"/>
          <p:cNvSpPr/>
          <p:nvPr/>
        </p:nvSpPr>
        <p:spPr>
          <a:xfrm>
            <a:off x="10058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33172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Cámara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974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Toma un cuadro de video</a:t>
            </a:r>
            <a:endParaRPr lang="en-US" sz="1200" dirty="0"/>
          </a:p>
        </p:txBody>
      </p:sp>
      <p:sp>
        <p:nvSpPr>
          <p:cNvPr id="8" name="loop IA"/>
          <p:cNvSpPr/>
          <p:nvPr/>
        </p:nvSpPr>
        <p:spPr>
          <a:xfrm>
            <a:off x="2194560" y="1417320"/>
            <a:ext cx="1463040" cy="2194560"/>
          </a:xfrm>
          <a:prstGeom prst="roundRect">
            <a:avLst>
              <a:gd name="adj" fmla="val 7500"/>
            </a:avLst>
          </a:prstGeom>
          <a:solidFill>
            <a:srgbClr val="1E2731"/>
          </a:solidFill>
          <a:ln w="12700">
            <a:solidFill>
              <a:srgbClr val="1E2731"/>
            </a:solidFill>
            <a:prstDash val="solid"/>
          </a:ln>
        </p:spPr>
      </p:sp>
      <p:sp>
        <p:nvSpPr>
          <p:cNvPr id="9" name="n1"/>
          <p:cNvSpPr/>
          <p:nvPr/>
        </p:nvSpPr>
        <p:spPr>
          <a:xfrm>
            <a:off x="26517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2304288" y="233172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26974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MediaPipe ubica 33 puntos del cuerpo</a:t>
            </a:r>
            <a:endParaRPr lang="en-US" sz="1200" dirty="0"/>
          </a:p>
        </p:txBody>
      </p:sp>
      <p:sp>
        <p:nvSpPr>
          <p:cNvPr id="13" name="loop Cálculo"/>
          <p:cNvSpPr/>
          <p:nvPr/>
        </p:nvSpPr>
        <p:spPr>
          <a:xfrm>
            <a:off x="3840480" y="1417320"/>
            <a:ext cx="1463040" cy="2194560"/>
          </a:xfrm>
          <a:prstGeom prst="roundRect">
            <a:avLst>
              <a:gd name="adj" fmla="val 7500"/>
            </a:avLst>
          </a:prstGeom>
          <a:solidFill>
            <a:srgbClr val="1E2731"/>
          </a:solidFill>
          <a:ln w="12700">
            <a:solidFill>
              <a:srgbClr val="1E2731"/>
            </a:solidFill>
            <a:prstDash val="solid"/>
          </a:ln>
        </p:spPr>
      </p:sp>
      <p:sp>
        <p:nvSpPr>
          <p:cNvPr id="14" name="n2"/>
          <p:cNvSpPr/>
          <p:nvPr/>
        </p:nvSpPr>
        <p:spPr>
          <a:xfrm>
            <a:off x="42976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3950208" y="233172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Cálculo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26974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Ratio suavizado vs. umbral</a:t>
            </a:r>
            <a:endParaRPr lang="en-US" sz="1200" dirty="0"/>
          </a:p>
        </p:txBody>
      </p:sp>
      <p:sp>
        <p:nvSpPr>
          <p:cNvPr id="18" name="loop Alerta"/>
          <p:cNvSpPr/>
          <p:nvPr/>
        </p:nvSpPr>
        <p:spPr>
          <a:xfrm>
            <a:off x="5486400" y="1417320"/>
            <a:ext cx="1463040" cy="2194560"/>
          </a:xfrm>
          <a:prstGeom prst="roundRect">
            <a:avLst>
              <a:gd name="adj" fmla="val 7500"/>
            </a:avLst>
          </a:prstGeom>
          <a:solidFill>
            <a:srgbClr val="1E2731"/>
          </a:solidFill>
          <a:ln w="12700">
            <a:solidFill>
              <a:srgbClr val="1E2731"/>
            </a:solidFill>
            <a:prstDash val="solid"/>
          </a:ln>
        </p:spPr>
      </p:sp>
      <p:sp>
        <p:nvSpPr>
          <p:cNvPr id="19" name="n3"/>
          <p:cNvSpPr/>
          <p:nvPr/>
        </p:nvSpPr>
        <p:spPr>
          <a:xfrm>
            <a:off x="594360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233172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Alerta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96128" y="26974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 estás mal más de 2 s</a:t>
            </a:r>
            <a:endParaRPr lang="en-US" sz="1200" dirty="0"/>
          </a:p>
        </p:txBody>
      </p:sp>
      <p:sp>
        <p:nvSpPr>
          <p:cNvPr id="23" name="loop Pantalla"/>
          <p:cNvSpPr/>
          <p:nvPr/>
        </p:nvSpPr>
        <p:spPr>
          <a:xfrm>
            <a:off x="7132320" y="1417320"/>
            <a:ext cx="1463040" cy="2194560"/>
          </a:xfrm>
          <a:prstGeom prst="roundRect">
            <a:avLst>
              <a:gd name="adj" fmla="val 7500"/>
            </a:avLst>
          </a:prstGeom>
          <a:solidFill>
            <a:srgbClr val="1E2731"/>
          </a:solidFill>
          <a:ln w="12700">
            <a:solidFill>
              <a:srgbClr val="1E2731"/>
            </a:solidFill>
            <a:prstDash val="solid"/>
          </a:ln>
        </p:spPr>
      </p:sp>
      <p:sp>
        <p:nvSpPr>
          <p:cNvPr id="24" name="n4"/>
          <p:cNvSpPr/>
          <p:nvPr/>
        </p:nvSpPr>
        <p:spPr>
          <a:xfrm>
            <a:off x="75895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7242048" y="233172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Pantalla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42048" y="269748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Esqueleto, puntaje y gráfico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↻  y vuelve a empezar con el siguiente cuadro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Más que una alerta</a:t>
            </a:r>
            <a:endParaRPr lang="en-US" sz="3000" dirty="0"/>
          </a:p>
        </p:txBody>
      </p:sp>
      <p:sp>
        <p:nvSpPr>
          <p:cNvPr id="3" name="feat Puntaje 0–100"/>
          <p:cNvSpPr/>
          <p:nvPr/>
        </p:nvSpPr>
        <p:spPr>
          <a:xfrm>
            <a:off x="548640" y="1280160"/>
            <a:ext cx="2532888" cy="13716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4" name="ic 0"/>
          <p:cNvSpPr/>
          <p:nvPr/>
        </p:nvSpPr>
        <p:spPr>
          <a:xfrm>
            <a:off x="77724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508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Puntaje 0–100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100 = tu postura ideal</a:t>
            </a:r>
            <a:endParaRPr lang="en-US" sz="1300" dirty="0"/>
          </a:p>
        </p:txBody>
      </p:sp>
      <p:sp>
        <p:nvSpPr>
          <p:cNvPr id="7" name="feat Gráfico en vivo"/>
          <p:cNvSpPr/>
          <p:nvPr/>
        </p:nvSpPr>
        <p:spPr>
          <a:xfrm>
            <a:off x="3264408" y="1280160"/>
            <a:ext cx="2532888" cy="13716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8" name="ic 1"/>
          <p:cNvSpPr/>
          <p:nvPr/>
        </p:nvSpPr>
        <p:spPr>
          <a:xfrm>
            <a:off x="3493008" y="155448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41648" y="1508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Gráfico en vivo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Últimos 60 segundos</a:t>
            </a:r>
            <a:endParaRPr lang="en-US" sz="1300" dirty="0"/>
          </a:p>
        </p:txBody>
      </p:sp>
      <p:sp>
        <p:nvSpPr>
          <p:cNvPr id="11" name="feat Calibración"/>
          <p:cNvSpPr/>
          <p:nvPr/>
        </p:nvSpPr>
        <p:spPr>
          <a:xfrm>
            <a:off x="5980176" y="1280160"/>
            <a:ext cx="2532888" cy="13716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2" name="ic 2"/>
          <p:cNvSpPr/>
          <p:nvPr/>
        </p:nvSpPr>
        <p:spPr>
          <a:xfrm>
            <a:off x="6208776" y="15544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57416" y="1508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Calibración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08776" y="2057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 adapta a tu cuerpo</a:t>
            </a:r>
            <a:endParaRPr lang="en-US" sz="1300" dirty="0"/>
          </a:p>
        </p:txBody>
      </p:sp>
      <p:sp>
        <p:nvSpPr>
          <p:cNvPr id="15" name="feat Segundo plano"/>
          <p:cNvSpPr/>
          <p:nvPr/>
        </p:nvSpPr>
        <p:spPr>
          <a:xfrm>
            <a:off x="548640" y="2880360"/>
            <a:ext cx="2532888" cy="13716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6" name="ic 3"/>
          <p:cNvSpPr/>
          <p:nvPr/>
        </p:nvSpPr>
        <p:spPr>
          <a:xfrm>
            <a:off x="777240" y="31546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Segundo plano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Avisa aunque uses otra ventana</a:t>
            </a:r>
            <a:endParaRPr lang="en-US" sz="1300" dirty="0"/>
          </a:p>
        </p:txBody>
      </p:sp>
      <p:sp>
        <p:nvSpPr>
          <p:cNvPr id="19" name="feat Pausas activas"/>
          <p:cNvSpPr/>
          <p:nvPr/>
        </p:nvSpPr>
        <p:spPr>
          <a:xfrm>
            <a:off x="3264408" y="2880360"/>
            <a:ext cx="2532888" cy="13716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0" name="ic 4"/>
          <p:cNvSpPr/>
          <p:nvPr/>
        </p:nvSpPr>
        <p:spPr>
          <a:xfrm>
            <a:off x="3493008" y="315468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41648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Pausas activas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93008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Recordatorio cada 20–60 min</a:t>
            </a:r>
            <a:endParaRPr lang="en-US" sz="1300" dirty="0"/>
          </a:p>
        </p:txBody>
      </p:sp>
      <p:sp>
        <p:nvSpPr>
          <p:cNvPr id="23" name="feat Reporte + CSV"/>
          <p:cNvSpPr/>
          <p:nvPr/>
        </p:nvSpPr>
        <p:spPr>
          <a:xfrm>
            <a:off x="5980176" y="2880360"/>
            <a:ext cx="2532888" cy="1371600"/>
          </a:xfrm>
          <a:prstGeom prst="roundRect">
            <a:avLst>
              <a:gd name="adj" fmla="val 8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4" name="ic 5"/>
          <p:cNvSpPr/>
          <p:nvPr/>
        </p:nvSpPr>
        <p:spPr>
          <a:xfrm>
            <a:off x="6208776" y="315468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57416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Reporte + CSV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08776" y="36576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Datos para analizar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Tecnología profesional, costo cero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5394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Tecnología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Para qué la usamos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MediaPipe Pose (Google)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IA que encuentra 33 puntos del cuerpo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WebAssembly + GPU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Corre la IA rápido dentro del navegador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HTML, CSS y JavaScript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La interfaz y toda la lógica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Service worker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Funciona sin internet tras la primera visita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GitHub Pages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Publicado gratis, con https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osto"/>
          <p:cNvSpPr/>
          <p:nvPr/>
        </p:nvSpPr>
        <p:spPr>
          <a:xfrm>
            <a:off x="6263640" y="123444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141B22"/>
          </a:solidFill>
          <a:ln w="12700">
            <a:solidFill>
              <a:srgbClr val="141B2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23444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4"/>
                </a:solidFill>
              </a:rPr>
              <a:t>$0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presupuesto total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Pensado para todo el mundo</a:t>
            </a:r>
            <a:endParaRPr lang="en-US" sz="3000" dirty="0"/>
          </a:p>
        </p:txBody>
      </p:sp>
      <p:sp>
        <p:nvSpPr>
          <p:cNvPr id="3" name="priv 0"/>
          <p:cNvSpPr/>
          <p:nvPr/>
        </p:nvSpPr>
        <p:spPr>
          <a:xfrm>
            <a:off x="548640" y="1371600"/>
            <a:ext cx="2532888" cy="2743200"/>
          </a:xfrm>
          <a:prstGeom prst="roundRect">
            <a:avLst>
              <a:gd name="adj" fmla="val 4332"/>
            </a:avLst>
          </a:prstGeom>
          <a:solidFill>
            <a:srgbClr val="1E2731"/>
          </a:solidFill>
          <a:ln w="12700">
            <a:solidFill>
              <a:srgbClr val="1E273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100 %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local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El video se analiza en tu dispositivo y nunca se sube a internet</a:t>
            </a:r>
            <a:endParaRPr lang="en-US" sz="1300" dirty="0"/>
          </a:p>
        </p:txBody>
      </p:sp>
      <p:sp>
        <p:nvSpPr>
          <p:cNvPr id="7" name="priv 1"/>
          <p:cNvSpPr/>
          <p:nvPr/>
        </p:nvSpPr>
        <p:spPr>
          <a:xfrm>
            <a:off x="3264408" y="1371600"/>
            <a:ext cx="2532888" cy="2743200"/>
          </a:xfrm>
          <a:prstGeom prst="roundRect">
            <a:avLst>
              <a:gd name="adj" fmla="val 4332"/>
            </a:avLst>
          </a:prstGeom>
          <a:solidFill>
            <a:srgbClr val="1E2731"/>
          </a:solidFill>
          <a:ln w="12700">
            <a:solidFill>
              <a:srgbClr val="1E273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38728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instalaciones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38728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Funciona en el navegador de computador, iPhone y Android</a:t>
            </a:r>
            <a:endParaRPr lang="en-US" sz="1300" dirty="0"/>
          </a:p>
        </p:txBody>
      </p:sp>
      <p:sp>
        <p:nvSpPr>
          <p:cNvPr id="11" name="priv 2"/>
          <p:cNvSpPr/>
          <p:nvPr/>
        </p:nvSpPr>
        <p:spPr>
          <a:xfrm>
            <a:off x="5980176" y="1371600"/>
            <a:ext cx="2532888" cy="2743200"/>
          </a:xfrm>
          <a:prstGeom prst="roundRect">
            <a:avLst>
              <a:gd name="adj" fmla="val 4332"/>
            </a:avLst>
          </a:prstGeom>
          <a:solidFill>
            <a:srgbClr val="1E2731"/>
          </a:solidFill>
          <a:ln w="12700">
            <a:solidFill>
              <a:srgbClr val="1E27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54496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254496" y="2423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formas de avisar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Sonido, color en pantalla y lector de pantalla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Pruébalo ahora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Escanea el código con la cámara de tu celular, toca «Iniciar», calibra… y encórvate.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eduardodd-githu.github.io/posturepal</a:t>
            </a:r>
            <a:endParaRPr lang="en-US" sz="1600" dirty="0"/>
          </a:p>
        </p:txBody>
      </p:sp>
      <p:sp>
        <p:nvSpPr>
          <p:cNvPr id="5" name="fondo qr"/>
          <p:cNvSpPr/>
          <p:nvPr/>
        </p:nvSpPr>
        <p:spPr>
          <a:xfrm>
            <a:off x="5897880" y="777240"/>
            <a:ext cx="2743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ódigo QR que abre eduardodd-githu.github.io/posturep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14400"/>
            <a:ext cx="2468880" cy="2468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Escanéame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urePal">
  <a:themeElements>
    <a:clrScheme name="PosturePal">
      <a:dk1>
        <a:srgbClr val="0B0F14"/>
      </a:dk1>
      <a:lt1>
        <a:srgbClr val="FFFFFF"/>
      </a:lt1>
      <a:dk2>
        <a:srgbClr val="141B22"/>
      </a:dk2>
      <a:lt2>
        <a:srgbClr val="F2F5F7"/>
      </a:lt2>
      <a:accent1>
        <a:srgbClr val="16A36A"/>
      </a:accent1>
      <a:accent2>
        <a:srgbClr val="FF5D6C"/>
      </a:accent2>
      <a:accent3>
        <a:srgbClr val="FFC857"/>
      </a:accent3>
      <a:accent4>
        <a:srgbClr val="3EF0A1"/>
      </a:accent4>
      <a:accent5>
        <a:srgbClr val="7AA7FF"/>
      </a:accent5>
      <a:accent6>
        <a:srgbClr val="8B97A5"/>
      </a:accent6>
      <a:hlink>
        <a:srgbClr val="16A36A"/>
      </a:hlink>
      <a:folHlink>
        <a:srgbClr val="0E7A4F"/>
      </a:folHlink>
    </a:clrScheme>
    <a:fontScheme name="PostureP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PosturePal</dc:title>
  <dc:subject>PptxGenJS Presentation</dc:subject>
  <dc:creator>PptxGenJS</dc:creator>
  <cp:lastModifiedBy>PptxGenJS</cp:lastModifiedBy>
  <cp:revision>1</cp:revision>
  <dcterms:created xsi:type="dcterms:W3CDTF">2026-10-30T12:50:57Z</dcterms:created>
  <dcterms:modified xsi:type="dcterms:W3CDTF">2026-10-30T12:50:57Z</dcterms:modified>
</cp:coreProperties>
</file>